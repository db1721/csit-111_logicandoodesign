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8" r:id="rId1"/>
  </p:sldMasterIdLst>
  <p:notesMasterIdLst>
    <p:notesMasterId r:id="rId29"/>
  </p:notesMasterIdLst>
  <p:sldIdLst>
    <p:sldId id="256" r:id="rId2"/>
    <p:sldId id="304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03" r:id="rId14"/>
    <p:sldId id="295" r:id="rId15"/>
    <p:sldId id="288" r:id="rId16"/>
    <p:sldId id="294" r:id="rId17"/>
    <p:sldId id="297" r:id="rId18"/>
    <p:sldId id="298" r:id="rId19"/>
    <p:sldId id="315" r:id="rId20"/>
    <p:sldId id="316" r:id="rId21"/>
    <p:sldId id="299" r:id="rId22"/>
    <p:sldId id="317" r:id="rId23"/>
    <p:sldId id="318" r:id="rId24"/>
    <p:sldId id="319" r:id="rId25"/>
    <p:sldId id="320" r:id="rId26"/>
    <p:sldId id="321" r:id="rId27"/>
    <p:sldId id="322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0000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4112" autoAdjust="0"/>
  </p:normalViewPr>
  <p:slideViewPr>
    <p:cSldViewPr>
      <p:cViewPr varScale="1">
        <p:scale>
          <a:sx n="62" d="100"/>
          <a:sy n="62" d="100"/>
        </p:scale>
        <p:origin x="-129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3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8499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3D65E139-12BE-414D-903E-52C34D6C8A5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5B3AD3-AAC5-44E5-A1FF-CC484D4EDDD0}" type="slidenum">
              <a:rPr lang="en-US"/>
              <a:pPr/>
              <a:t>1</a:t>
            </a:fld>
            <a:endParaRPr lang="en-US"/>
          </a:p>
        </p:txBody>
      </p:sp>
      <p:sp>
        <p:nvSpPr>
          <p:cNvPr id="1003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138587-960D-4B82-9868-9FE329989288}" type="slidenum">
              <a:rPr lang="en-US"/>
              <a:pPr/>
              <a:t>15</a:t>
            </a:fld>
            <a:endParaRPr lang="en-US"/>
          </a:p>
        </p:txBody>
      </p:sp>
      <p:sp>
        <p:nvSpPr>
          <p:cNvPr id="860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854F48-5EF5-4324-B924-E5AF58A79FF2}" type="slidenum">
              <a:rPr lang="en-US"/>
              <a:pPr/>
              <a:t>21</a:t>
            </a:fld>
            <a:endParaRPr lang="en-US"/>
          </a:p>
        </p:txBody>
      </p:sp>
      <p:sp>
        <p:nvSpPr>
          <p:cNvPr id="890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F2CD71-3FFE-4926-AB90-FBE10341281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04800" y="65532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Dr. Paniagua - </a:t>
            </a:r>
            <a:r>
              <a:rPr lang="en-US" dirty="0" err="1" smtClean="0"/>
              <a:t>CSIT</a:t>
            </a:r>
            <a:r>
              <a:rPr lang="en-US" dirty="0" smtClean="0"/>
              <a:t> 111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87951D-281E-40BB-BC44-02BFEA0748B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04800" y="65532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Dr. Paniagua - </a:t>
            </a:r>
            <a:r>
              <a:rPr lang="en-US" dirty="0" err="1" smtClean="0"/>
              <a:t>CSIT</a:t>
            </a:r>
            <a:r>
              <a:rPr lang="en-US" dirty="0" smtClean="0"/>
              <a:t> 111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67BB43-E0E4-4815-8D13-DC86C79C0D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42FB51-0C1B-4896-887D-DA59CEDB34B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B457EF-F96D-4B78-9FC2-EEF6939C10E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02A5EB-BDB7-43B6-8429-2C9A3BE9EA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98C9C1-C2FA-4587-9382-E3E4154E5C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48C5A2-A701-481E-A27E-0809B0165B9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918361-6BEA-4869-BDAB-355BCF38892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48D588-F1E3-4827-AA9B-AF914FADA9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3B9BBC-BB11-48F3-A6EA-550890ABF65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FC61FC3-48C1-4A53-9264-3201C766882C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04800" y="65532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Dr. Paniagua - </a:t>
            </a:r>
            <a:r>
              <a:rPr lang="en-US" dirty="0" err="1" smtClean="0"/>
              <a:t>CSIT</a:t>
            </a:r>
            <a:r>
              <a:rPr lang="en-US" dirty="0" smtClean="0"/>
              <a:t> 111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C63B766-ECDC-44D2-89C4-97214361B77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04800" y="65532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Dr. Paniagua - </a:t>
            </a:r>
            <a:r>
              <a:rPr lang="en-US" dirty="0" err="1" smtClean="0"/>
              <a:t>CSIT</a:t>
            </a:r>
            <a:r>
              <a:rPr lang="en-US" dirty="0" smtClean="0"/>
              <a:t> 111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en-US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D6337102-23C4-49EC-BF39-4F48AF8DA53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Blip>
          <a:blip r:embed="rId17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Blip>
          <a:blip r:embed="rId18"/>
        </a:buBlip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 smtClean="0"/>
              <a:t>Chapter 1</a:t>
            </a:r>
            <a:endParaRPr lang="en-US" sz="54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Getting Started with Alice </a:t>
            </a:r>
            <a:endParaRPr lang="en-US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Outline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to Alice</a:t>
            </a:r>
          </a:p>
          <a:p>
            <a:pPr lvl="1"/>
            <a:r>
              <a:rPr lang="en-US" dirty="0" smtClean="0"/>
              <a:t>Why learn about programming computers?</a:t>
            </a:r>
          </a:p>
          <a:p>
            <a:pPr lvl="1"/>
            <a:r>
              <a:rPr lang="en-US" dirty="0" smtClean="0"/>
              <a:t>How you will learn to program with this book and Alice</a:t>
            </a:r>
          </a:p>
          <a:p>
            <a:pPr lvl="1"/>
            <a:r>
              <a:rPr lang="en-US" dirty="0" smtClean="0"/>
              <a:t>The basics of computer programming</a:t>
            </a:r>
          </a:p>
          <a:p>
            <a:pPr lvl="1"/>
            <a:r>
              <a:rPr lang="en-US" dirty="0" smtClean="0"/>
              <a:t>Why is it called Alice?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Outline </a:t>
            </a:r>
            <a:r>
              <a:rPr lang="en-US" sz="2800" b="1" dirty="0" smtClean="0">
                <a:solidFill>
                  <a:srgbClr val="FFC000"/>
                </a:solidFill>
              </a:rPr>
              <a:t>(cont.)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Alice concepts</a:t>
            </a:r>
          </a:p>
          <a:p>
            <a:pPr lvl="1"/>
            <a:r>
              <a:rPr lang="en-US" dirty="0" smtClean="0"/>
              <a:t>Concept: Virtual world</a:t>
            </a:r>
          </a:p>
          <a:p>
            <a:pPr lvl="1"/>
            <a:r>
              <a:rPr lang="en-US" dirty="0" smtClean="0"/>
              <a:t>Concept: Objects and 3D models</a:t>
            </a:r>
          </a:p>
          <a:p>
            <a:pPr lvl="1"/>
            <a:r>
              <a:rPr lang="en-US" dirty="0" smtClean="0"/>
              <a:t>Concept: Three dimensions and six directions</a:t>
            </a:r>
          </a:p>
          <a:p>
            <a:pPr lvl="1"/>
            <a:r>
              <a:rPr lang="en-US" dirty="0" smtClean="0"/>
              <a:t>Concept: Center of an object</a:t>
            </a:r>
          </a:p>
          <a:p>
            <a:pPr lvl="1"/>
            <a:r>
              <a:rPr lang="en-US" dirty="0" smtClean="0"/>
              <a:t>Concept: Distance</a:t>
            </a:r>
          </a:p>
          <a:p>
            <a:pPr lvl="1"/>
            <a:r>
              <a:rPr lang="en-US" dirty="0" smtClean="0"/>
              <a:t>Concept: Position</a:t>
            </a:r>
          </a:p>
          <a:p>
            <a:pPr lvl="1"/>
            <a:r>
              <a:rPr lang="en-US" dirty="0" smtClean="0"/>
              <a:t>Concept: Animation</a:t>
            </a:r>
          </a:p>
          <a:p>
            <a:pPr lvl="1"/>
            <a:r>
              <a:rPr lang="en-US" dirty="0" smtClean="0"/>
              <a:t>Getting Started with Alice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Outline </a:t>
            </a:r>
            <a:r>
              <a:rPr lang="en-US" sz="2800" b="1" dirty="0" smtClean="0">
                <a:solidFill>
                  <a:srgbClr val="FFC000"/>
                </a:solidFill>
              </a:rPr>
              <a:t>(cont.)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Tips &amp; Techniques 1: Special Effects: Text and 2D Graphic Images</a:t>
            </a:r>
          </a:p>
          <a:p>
            <a:pPr lvl="1"/>
            <a:r>
              <a:rPr lang="en-US" dirty="0" smtClean="0"/>
              <a:t>3D text</a:t>
            </a:r>
          </a:p>
          <a:p>
            <a:pPr lvl="1"/>
            <a:r>
              <a:rPr lang="en-US" dirty="0" smtClean="0"/>
              <a:t>Graphic images (Billboards)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solidFill>
                  <a:srgbClr val="FFC000"/>
                </a:solidFill>
              </a:rPr>
              <a:t>Why learn about programming computers?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Learning to program a computer does not turn you into a computer nerd</a:t>
            </a:r>
          </a:p>
          <a:p>
            <a:r>
              <a:rPr lang="en-US" dirty="0" smtClean="0"/>
              <a:t>This book uses a system called Alice</a:t>
            </a:r>
          </a:p>
          <a:p>
            <a:pPr lvl="1"/>
            <a:r>
              <a:rPr lang="en-US" dirty="0" smtClean="0"/>
              <a:t>You will be a director of a play, where on-screen objects act out the script you create</a:t>
            </a:r>
          </a:p>
          <a:p>
            <a:r>
              <a:rPr lang="en-US" dirty="0" smtClean="0"/>
              <a:t>What are the technological advances thanks to computer programmers?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rgbClr val="FFC000"/>
                </a:solidFill>
              </a:rPr>
              <a:t>How you will learn to program with this book and Alice</a:t>
            </a:r>
            <a:endParaRPr lang="en-US" sz="3200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 different and more enjoyable way</a:t>
            </a:r>
          </a:p>
          <a:p>
            <a:r>
              <a:rPr lang="en-US" dirty="0" smtClean="0"/>
              <a:t>As painless as humanly possible</a:t>
            </a:r>
          </a:p>
          <a:p>
            <a:r>
              <a:rPr lang="en-US" dirty="0" smtClean="0"/>
              <a:t>Different approach, possible due to:</a:t>
            </a:r>
          </a:p>
          <a:p>
            <a:pPr lvl="1"/>
            <a:r>
              <a:rPr lang="en-US" dirty="0" smtClean="0"/>
              <a:t>Increased power of desktop computers</a:t>
            </a:r>
          </a:p>
          <a:p>
            <a:pPr lvl="1"/>
            <a:r>
              <a:rPr lang="en-US" dirty="0" smtClean="0"/>
              <a:t>Development of novel software that uses 3D</a:t>
            </a:r>
          </a:p>
          <a:p>
            <a:r>
              <a:rPr lang="en-US" dirty="0" smtClean="0"/>
              <a:t>Alice use natural English language words, like ‘move forward’ or ‘turn right’</a:t>
            </a:r>
          </a:p>
          <a:p>
            <a:r>
              <a:rPr lang="en-US" dirty="0" smtClean="0"/>
              <a:t>You’ll understand all the fundamental ideas involved in programming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solidFill>
                  <a:srgbClr val="FFC000"/>
                </a:solidFill>
              </a:rPr>
              <a:t>The basics of computer programming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F0"/>
                </a:solidFill>
              </a:rPr>
              <a:t>Program:</a:t>
            </a:r>
            <a:r>
              <a:rPr lang="en-US" dirty="0" smtClean="0"/>
              <a:t> is a set of instructions that tells the computer what to do and is a way to tell another human being what you want the computer to do</a:t>
            </a:r>
          </a:p>
          <a:p>
            <a:r>
              <a:rPr lang="en-US" b="1" dirty="0" smtClean="0">
                <a:solidFill>
                  <a:srgbClr val="00B0F0"/>
                </a:solidFill>
              </a:rPr>
              <a:t>Documentation:</a:t>
            </a:r>
            <a:r>
              <a:rPr lang="en-US" dirty="0" smtClean="0"/>
              <a:t> comments in the program, a Web reference, or an accompanying written document</a:t>
            </a:r>
          </a:p>
          <a:p>
            <a:r>
              <a:rPr lang="en-US" dirty="0" smtClean="0"/>
              <a:t>The key to computer programming is       to get a handle on the </a:t>
            </a:r>
            <a:r>
              <a:rPr lang="en-US" b="1" dirty="0" smtClean="0">
                <a:solidFill>
                  <a:srgbClr val="00B0F0"/>
                </a:solidFill>
              </a:rPr>
              <a:t>fundamental      ideas</a:t>
            </a:r>
            <a:endParaRPr lang="en-US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solidFill>
                  <a:srgbClr val="FFC000"/>
                </a:solidFill>
              </a:rPr>
              <a:t>The basics of computer programming </a:t>
            </a:r>
            <a:r>
              <a:rPr lang="en-US" sz="1600" b="1" dirty="0" smtClean="0">
                <a:solidFill>
                  <a:srgbClr val="FFC000"/>
                </a:solidFill>
              </a:rPr>
              <a:t>(cont.)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Fundamental ideas</a:t>
            </a:r>
          </a:p>
          <a:p>
            <a:pPr lvl="1"/>
            <a:r>
              <a:rPr lang="en-US" dirty="0" smtClean="0"/>
              <a:t>A list of instructions (</a:t>
            </a:r>
            <a:r>
              <a:rPr lang="en-US" dirty="0" smtClean="0">
                <a:solidFill>
                  <a:srgbClr val="00B0F0"/>
                </a:solidFill>
              </a:rPr>
              <a:t>sequential processing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Ifs (</a:t>
            </a:r>
            <a:r>
              <a:rPr lang="en-US" dirty="0" smtClean="0">
                <a:solidFill>
                  <a:srgbClr val="00B0F0"/>
                </a:solidFill>
              </a:rPr>
              <a:t>conditional executions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Repeating behavior (</a:t>
            </a:r>
            <a:r>
              <a:rPr lang="en-US" dirty="0" smtClean="0">
                <a:solidFill>
                  <a:srgbClr val="00B0F0"/>
                </a:solidFill>
              </a:rPr>
              <a:t>looping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00B0F0"/>
                </a:solidFill>
              </a:rPr>
              <a:t>iteration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Breaking things up into smaller pieces (</a:t>
            </a:r>
            <a:r>
              <a:rPr lang="en-US" dirty="0" smtClean="0">
                <a:solidFill>
                  <a:srgbClr val="00B0F0"/>
                </a:solidFill>
              </a:rPr>
              <a:t>problem decomposition</a:t>
            </a:r>
            <a:r>
              <a:rPr lang="en-US" dirty="0" smtClean="0"/>
              <a:t>, or </a:t>
            </a:r>
            <a:r>
              <a:rPr lang="en-US" dirty="0" smtClean="0">
                <a:solidFill>
                  <a:srgbClr val="00B0F0"/>
                </a:solidFill>
              </a:rPr>
              <a:t>stepwise     refinement</a:t>
            </a:r>
            <a:r>
              <a:rPr lang="en-US" dirty="0" smtClean="0"/>
              <a:t>, or </a:t>
            </a:r>
            <a:r>
              <a:rPr lang="en-US" dirty="0" smtClean="0">
                <a:solidFill>
                  <a:srgbClr val="00B0F0"/>
                </a:solidFill>
              </a:rPr>
              <a:t>top-down design</a:t>
            </a:r>
            <a:r>
              <a:rPr lang="en-US" dirty="0" smtClean="0"/>
              <a:t> – </a:t>
            </a:r>
            <a:r>
              <a:rPr lang="en-US" dirty="0" smtClean="0">
                <a:solidFill>
                  <a:srgbClr val="00B0F0"/>
                </a:solidFill>
              </a:rPr>
              <a:t>reductionism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Compute a result (</a:t>
            </a:r>
            <a:r>
              <a:rPr lang="en-US" dirty="0" smtClean="0">
                <a:solidFill>
                  <a:srgbClr val="00B0F0"/>
                </a:solidFill>
              </a:rPr>
              <a:t>calling a function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solidFill>
                  <a:srgbClr val="FFC000"/>
                </a:solidFill>
              </a:rPr>
              <a:t>The basics of computer programming </a:t>
            </a:r>
            <a:r>
              <a:rPr lang="en-US" sz="1600" b="1" dirty="0" smtClean="0">
                <a:solidFill>
                  <a:srgbClr val="FFC000"/>
                </a:solidFill>
              </a:rPr>
              <a:t>(cont.)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can make things hard is complexity</a:t>
            </a:r>
          </a:p>
          <a:p>
            <a:r>
              <a:rPr lang="en-US" dirty="0" smtClean="0"/>
              <a:t>Learning how to think about arranging a sequence of instructions to carry out a task (how to design a program) is probably the most valuable part of learning to program</a:t>
            </a:r>
          </a:p>
          <a:p>
            <a:r>
              <a:rPr lang="en-US" dirty="0" smtClean="0"/>
              <a:t>The best way to communicate your  design is to sketch the design on       paper or whiteboard (flowcharting)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solidFill>
                  <a:srgbClr val="FFC000"/>
                </a:solidFill>
              </a:rPr>
              <a:t>The basics of computer programming </a:t>
            </a:r>
            <a:r>
              <a:rPr lang="en-US" sz="1600" b="1" dirty="0" smtClean="0">
                <a:solidFill>
                  <a:srgbClr val="FFC000"/>
                </a:solidFill>
              </a:rPr>
              <a:t>(cont.)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Flowchart symbols</a:t>
            </a:r>
          </a:p>
          <a:p>
            <a:endParaRPr lang="en-US" dirty="0"/>
          </a:p>
        </p:txBody>
      </p:sp>
      <p:sp>
        <p:nvSpPr>
          <p:cNvPr id="4" name="Flowchart: Terminator 3"/>
          <p:cNvSpPr/>
          <p:nvPr/>
        </p:nvSpPr>
        <p:spPr>
          <a:xfrm>
            <a:off x="762000" y="2438400"/>
            <a:ext cx="1828800" cy="6858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33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lowchart: Data 4"/>
          <p:cNvSpPr/>
          <p:nvPr/>
        </p:nvSpPr>
        <p:spPr>
          <a:xfrm>
            <a:off x="3352800" y="2438400"/>
            <a:ext cx="2209800" cy="609600"/>
          </a:xfrm>
          <a:prstGeom prst="flowChartInputOutput">
            <a:avLst/>
          </a:prstGeom>
          <a:solidFill>
            <a:schemeClr val="bg1"/>
          </a:solidFill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" name="Flowchart: Decision 5"/>
          <p:cNvSpPr/>
          <p:nvPr/>
        </p:nvSpPr>
        <p:spPr>
          <a:xfrm>
            <a:off x="4267200" y="3810000"/>
            <a:ext cx="2438400" cy="1066800"/>
          </a:xfrm>
          <a:prstGeom prst="flowChartDecision">
            <a:avLst/>
          </a:prstGeom>
          <a:solidFill>
            <a:schemeClr val="bg1"/>
          </a:solidFill>
          <a:ln w="28575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6248400" y="2438400"/>
            <a:ext cx="1752600" cy="685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38200" y="3886200"/>
            <a:ext cx="2667000" cy="838200"/>
          </a:xfrm>
          <a:prstGeom prst="rect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" name="Straight Connector 9"/>
          <p:cNvCxnSpPr/>
          <p:nvPr/>
        </p:nvCxnSpPr>
        <p:spPr bwMode="auto">
          <a:xfrm rot="5400000">
            <a:off x="647700" y="4305300"/>
            <a:ext cx="8382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rot="5400000">
            <a:off x="2857500" y="4305300"/>
            <a:ext cx="8382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219200" y="3352800"/>
            <a:ext cx="1447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terminal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733800" y="3352800"/>
            <a:ext cx="1447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Input/output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705600" y="3352800"/>
            <a:ext cx="1447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process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905000" y="5029200"/>
            <a:ext cx="1447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call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953000" y="5105400"/>
            <a:ext cx="1447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decision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solidFill>
                  <a:srgbClr val="FFC000"/>
                </a:solidFill>
              </a:rPr>
              <a:t>The basics of computer programming </a:t>
            </a:r>
            <a:r>
              <a:rPr lang="en-US" sz="1600" b="1" dirty="0" smtClean="0">
                <a:solidFill>
                  <a:srgbClr val="FFC000"/>
                </a:solidFill>
              </a:rPr>
              <a:t>(cont.)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Flowchart connectors</a:t>
            </a:r>
          </a:p>
          <a:p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 bwMode="auto">
          <a:xfrm rot="10800000">
            <a:off x="1066800" y="2743200"/>
            <a:ext cx="11430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>
            <a:off x="1143000" y="3048000"/>
            <a:ext cx="11430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Flowchart: Connector 20"/>
          <p:cNvSpPr/>
          <p:nvPr/>
        </p:nvSpPr>
        <p:spPr bwMode="auto">
          <a:xfrm>
            <a:off x="3505200" y="2590800"/>
            <a:ext cx="990600" cy="838200"/>
          </a:xfrm>
          <a:prstGeom prst="flowChartConnector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Flowchart: Off-page Connector 21"/>
          <p:cNvSpPr/>
          <p:nvPr/>
        </p:nvSpPr>
        <p:spPr bwMode="auto">
          <a:xfrm>
            <a:off x="5562600" y="2590800"/>
            <a:ext cx="838200" cy="914400"/>
          </a:xfrm>
          <a:prstGeom prst="flowChartOffpageConnector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05200" y="37338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</a:t>
            </a:r>
            <a:r>
              <a:rPr lang="en-US" dirty="0" smtClean="0"/>
              <a:t>n-page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0200" y="37338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off-page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Why is it called Alice?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honor of Charles </a:t>
            </a:r>
            <a:r>
              <a:rPr lang="en-US" dirty="0" err="1" smtClean="0"/>
              <a:t>Lutwidge</a:t>
            </a:r>
            <a:r>
              <a:rPr lang="en-US" dirty="0" smtClean="0"/>
              <a:t> Dodson, an English mathematician and logician who wrote under the pen name Lewis Carroll</a:t>
            </a:r>
          </a:p>
          <a:p>
            <a:r>
              <a:rPr lang="en-US" dirty="0" smtClean="0"/>
              <a:t>He new that the most important thing was to make things simple and fascinating      to a learner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Alice Concepts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467600" cy="5105400"/>
          </a:xfrm>
        </p:spPr>
        <p:txBody>
          <a:bodyPr/>
          <a:lstStyle/>
          <a:p>
            <a:r>
              <a:rPr lang="en-US" sz="2800" dirty="0" smtClean="0">
                <a:solidFill>
                  <a:srgbClr val="00B0F0"/>
                </a:solidFill>
              </a:rPr>
              <a:t>Object-Oriented programming:</a:t>
            </a:r>
            <a:r>
              <a:rPr lang="en-US" sz="2800" dirty="0" smtClean="0"/>
              <a:t> Alice is based on the use of objects</a:t>
            </a:r>
          </a:p>
          <a:p>
            <a:r>
              <a:rPr lang="en-US" sz="2800" dirty="0" smtClean="0"/>
              <a:t>You will create </a:t>
            </a:r>
            <a:r>
              <a:rPr lang="en-US" sz="2800" dirty="0" smtClean="0">
                <a:solidFill>
                  <a:srgbClr val="00B0F0"/>
                </a:solidFill>
              </a:rPr>
              <a:t>worlds</a:t>
            </a:r>
            <a:r>
              <a:rPr lang="en-US" sz="2800" dirty="0" smtClean="0"/>
              <a:t> on your computer and populate them with some </a:t>
            </a:r>
            <a:r>
              <a:rPr lang="en-US" sz="2800" dirty="0" smtClean="0">
                <a:solidFill>
                  <a:srgbClr val="00B0F0"/>
                </a:solidFill>
              </a:rPr>
              <a:t>objects</a:t>
            </a:r>
            <a:r>
              <a:rPr lang="en-US" sz="2800" dirty="0" smtClean="0"/>
              <a:t> in creative scenes</a:t>
            </a:r>
          </a:p>
          <a:p>
            <a:r>
              <a:rPr lang="en-US" sz="2800" dirty="0" smtClean="0"/>
              <a:t>You will write </a:t>
            </a:r>
            <a:r>
              <a:rPr lang="en-US" sz="2800" dirty="0" smtClean="0">
                <a:solidFill>
                  <a:srgbClr val="00B0F0"/>
                </a:solidFill>
              </a:rPr>
              <a:t>programs</a:t>
            </a:r>
            <a:r>
              <a:rPr lang="en-US" sz="2800" dirty="0" smtClean="0"/>
              <a:t> (movie scripts or video game controllers) to direct your      own production of animations in those worlds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C000"/>
                </a:solidFill>
              </a:rPr>
              <a:t>Class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Objects are categorized into classes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Each object is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    an </a:t>
            </a:r>
            <a:r>
              <a:rPr lang="en-US" sz="2800" dirty="0">
                <a:solidFill>
                  <a:srgbClr val="00B0F0"/>
                </a:solidFill>
              </a:rPr>
              <a:t>instance</a:t>
            </a:r>
            <a:r>
              <a:rPr lang="en-US" sz="2800" dirty="0"/>
              <a:t> of the class.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All objects in a class have similar properties</a:t>
            </a:r>
            <a:r>
              <a:rPr lang="en-US" dirty="0"/>
              <a:t> </a:t>
            </a:r>
            <a:r>
              <a:rPr lang="en-US" sz="2800" dirty="0"/>
              <a:t>and generally can perform the same tasks.</a:t>
            </a:r>
          </a:p>
        </p:txBody>
      </p:sp>
      <p:grpSp>
        <p:nvGrpSpPr>
          <p:cNvPr id="57348" name="Group 4"/>
          <p:cNvGrpSpPr>
            <a:grpSpLocks/>
          </p:cNvGrpSpPr>
          <p:nvPr/>
        </p:nvGrpSpPr>
        <p:grpSpPr bwMode="auto">
          <a:xfrm>
            <a:off x="1447800" y="1676400"/>
            <a:ext cx="7239000" cy="2779713"/>
            <a:chOff x="720" y="1920"/>
            <a:chExt cx="4752" cy="1912"/>
          </a:xfrm>
        </p:grpSpPr>
        <p:sp>
          <p:nvSpPr>
            <p:cNvPr id="57349" name="Text Box 5"/>
            <p:cNvSpPr txBox="1">
              <a:spLocks noChangeArrowheads="1"/>
            </p:cNvSpPr>
            <p:nvPr/>
          </p:nvSpPr>
          <p:spPr bwMode="auto">
            <a:xfrm>
              <a:off x="2112" y="2112"/>
              <a:ext cx="912" cy="3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Person</a:t>
              </a:r>
            </a:p>
          </p:txBody>
        </p:sp>
        <p:sp>
          <p:nvSpPr>
            <p:cNvPr id="57350" name="Text Box 6"/>
            <p:cNvSpPr txBox="1">
              <a:spLocks noChangeArrowheads="1"/>
            </p:cNvSpPr>
            <p:nvPr/>
          </p:nvSpPr>
          <p:spPr bwMode="auto">
            <a:xfrm>
              <a:off x="4512" y="3114"/>
              <a:ext cx="960" cy="3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Dogs</a:t>
              </a:r>
            </a:p>
          </p:txBody>
        </p:sp>
        <p:sp>
          <p:nvSpPr>
            <p:cNvPr id="57351" name="Text Box 7"/>
            <p:cNvSpPr txBox="1">
              <a:spLocks noChangeArrowheads="1"/>
            </p:cNvSpPr>
            <p:nvPr/>
          </p:nvSpPr>
          <p:spPr bwMode="auto">
            <a:xfrm>
              <a:off x="720" y="1920"/>
              <a:ext cx="481" cy="2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peter</a:t>
              </a:r>
            </a:p>
          </p:txBody>
        </p:sp>
        <p:sp>
          <p:nvSpPr>
            <p:cNvPr id="57352" name="Text Box 8"/>
            <p:cNvSpPr txBox="1">
              <a:spLocks noChangeArrowheads="1"/>
            </p:cNvSpPr>
            <p:nvPr/>
          </p:nvSpPr>
          <p:spPr bwMode="auto">
            <a:xfrm>
              <a:off x="720" y="2688"/>
              <a:ext cx="528" cy="2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mary</a:t>
              </a:r>
            </a:p>
          </p:txBody>
        </p:sp>
        <p:sp>
          <p:nvSpPr>
            <p:cNvPr id="57353" name="Text Box 9"/>
            <p:cNvSpPr txBox="1">
              <a:spLocks noChangeArrowheads="1"/>
            </p:cNvSpPr>
            <p:nvPr/>
          </p:nvSpPr>
          <p:spPr bwMode="auto">
            <a:xfrm>
              <a:off x="720" y="2304"/>
              <a:ext cx="576" cy="2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paul</a:t>
              </a:r>
            </a:p>
          </p:txBody>
        </p:sp>
        <p:sp>
          <p:nvSpPr>
            <p:cNvPr id="57354" name="Line 10"/>
            <p:cNvSpPr>
              <a:spLocks noChangeShapeType="1"/>
            </p:cNvSpPr>
            <p:nvPr/>
          </p:nvSpPr>
          <p:spPr bwMode="auto">
            <a:xfrm>
              <a:off x="1200" y="2064"/>
              <a:ext cx="91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5" name="Line 11"/>
            <p:cNvSpPr>
              <a:spLocks noChangeShapeType="1"/>
            </p:cNvSpPr>
            <p:nvPr/>
          </p:nvSpPr>
          <p:spPr bwMode="auto">
            <a:xfrm flipV="1">
              <a:off x="1296" y="2256"/>
              <a:ext cx="76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6" name="Line 12"/>
            <p:cNvSpPr>
              <a:spLocks noChangeShapeType="1"/>
            </p:cNvSpPr>
            <p:nvPr/>
          </p:nvSpPr>
          <p:spPr bwMode="auto">
            <a:xfrm flipV="1">
              <a:off x="1248" y="2304"/>
              <a:ext cx="81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7" name="Text Box 13"/>
            <p:cNvSpPr txBox="1">
              <a:spLocks noChangeArrowheads="1"/>
            </p:cNvSpPr>
            <p:nvPr/>
          </p:nvSpPr>
          <p:spPr bwMode="auto">
            <a:xfrm>
              <a:off x="3505" y="2879"/>
              <a:ext cx="671" cy="2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spike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57358" name="Text Box 14"/>
            <p:cNvSpPr txBox="1">
              <a:spLocks noChangeArrowheads="1"/>
            </p:cNvSpPr>
            <p:nvPr/>
          </p:nvSpPr>
          <p:spPr bwMode="auto">
            <a:xfrm>
              <a:off x="3505" y="3217"/>
              <a:ext cx="719" cy="2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scottie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57359" name="Text Box 15"/>
            <p:cNvSpPr txBox="1">
              <a:spLocks noChangeArrowheads="1"/>
            </p:cNvSpPr>
            <p:nvPr/>
          </p:nvSpPr>
          <p:spPr bwMode="auto">
            <a:xfrm>
              <a:off x="3505" y="3553"/>
              <a:ext cx="719" cy="2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fluffy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57360" name="Line 16"/>
            <p:cNvSpPr>
              <a:spLocks noChangeShapeType="1"/>
            </p:cNvSpPr>
            <p:nvPr/>
          </p:nvSpPr>
          <p:spPr bwMode="auto">
            <a:xfrm>
              <a:off x="4176" y="2928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61" name="Line 17"/>
            <p:cNvSpPr>
              <a:spLocks noChangeShapeType="1"/>
            </p:cNvSpPr>
            <p:nvPr/>
          </p:nvSpPr>
          <p:spPr bwMode="auto">
            <a:xfrm flipV="1">
              <a:off x="4224" y="3216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62" name="Line 18"/>
            <p:cNvSpPr>
              <a:spLocks noChangeShapeType="1"/>
            </p:cNvSpPr>
            <p:nvPr/>
          </p:nvSpPr>
          <p:spPr bwMode="auto">
            <a:xfrm flipV="1">
              <a:off x="4176" y="3312"/>
              <a:ext cx="33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Virtual World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Video games and simulations can be either 2D or 3D</a:t>
            </a:r>
          </a:p>
          <a:p>
            <a:r>
              <a:rPr lang="en-US" dirty="0" smtClean="0"/>
              <a:t>A video game or simulation implemented in 3D is called a </a:t>
            </a:r>
            <a:r>
              <a:rPr lang="en-US" dirty="0" smtClean="0">
                <a:solidFill>
                  <a:srgbClr val="00B0F0"/>
                </a:solidFill>
              </a:rPr>
              <a:t>Virtual World</a:t>
            </a:r>
            <a:r>
              <a:rPr lang="en-US" dirty="0" smtClean="0"/>
              <a:t>, having width, height, and depth</a:t>
            </a:r>
          </a:p>
          <a:p>
            <a:r>
              <a:rPr lang="en-US" dirty="0" smtClean="0"/>
              <a:t>Camera shots captured from different angles shows object that give a sense      of being real</a:t>
            </a:r>
          </a:p>
          <a:p>
            <a:pPr>
              <a:buFontTx/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Objects and 3D models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7724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An </a:t>
            </a:r>
            <a:r>
              <a:rPr lang="en-US" dirty="0" smtClean="0">
                <a:solidFill>
                  <a:srgbClr val="00B0F0"/>
                </a:solidFill>
              </a:rPr>
              <a:t>object</a:t>
            </a:r>
            <a:r>
              <a:rPr lang="en-US" dirty="0"/>
              <a:t> </a:t>
            </a:r>
            <a:r>
              <a:rPr lang="en-US" dirty="0" smtClean="0"/>
              <a:t>is </a:t>
            </a:r>
            <a:r>
              <a:rPr lang="en-US" dirty="0"/>
              <a:t>any thing that can be identified as unique from other things</a:t>
            </a:r>
          </a:p>
          <a:p>
            <a:pPr>
              <a:lnSpc>
                <a:spcPct val="90000"/>
              </a:lnSpc>
            </a:pPr>
            <a:r>
              <a:rPr lang="en-US" dirty="0"/>
              <a:t>How is an object unique?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 has a name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 has properties:  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width, height, color, location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 can perform actions (methods):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associated actions it can perform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tasks it can carry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Objects and 3D models </a:t>
            </a:r>
            <a:r>
              <a:rPr lang="en-US" sz="2800" b="1" dirty="0" smtClean="0">
                <a:solidFill>
                  <a:srgbClr val="FFC000"/>
                </a:solidFill>
              </a:rPr>
              <a:t>(cont.)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en-US" sz="2800" dirty="0" smtClean="0"/>
              <a:t>3D Model is like a blueprint used to design a house</a:t>
            </a:r>
          </a:p>
          <a:p>
            <a:r>
              <a:rPr lang="en-US" sz="2800" dirty="0" smtClean="0"/>
              <a:t>An Alice 3D model tells Alice</a:t>
            </a:r>
          </a:p>
          <a:p>
            <a:pPr lvl="1"/>
            <a:r>
              <a:rPr lang="en-US" sz="2400" dirty="0" smtClean="0"/>
              <a:t>How to create a new object in the scene</a:t>
            </a:r>
          </a:p>
          <a:p>
            <a:pPr lvl="1"/>
            <a:r>
              <a:rPr lang="en-US" sz="2400" dirty="0" smtClean="0"/>
              <a:t>Provides instructions on </a:t>
            </a:r>
          </a:p>
          <a:p>
            <a:pPr lvl="2"/>
            <a:r>
              <a:rPr lang="en-US" sz="2000" dirty="0" smtClean="0"/>
              <a:t>How to draw the object</a:t>
            </a:r>
          </a:p>
          <a:p>
            <a:pPr lvl="2"/>
            <a:r>
              <a:rPr lang="en-US" sz="2000" dirty="0" smtClean="0"/>
              <a:t>What color it should be</a:t>
            </a:r>
          </a:p>
          <a:p>
            <a:pPr lvl="2"/>
            <a:r>
              <a:rPr lang="en-US" sz="2000" dirty="0" smtClean="0"/>
              <a:t>What parts it should have</a:t>
            </a:r>
          </a:p>
          <a:p>
            <a:pPr lvl="2"/>
            <a:r>
              <a:rPr lang="en-US" sz="2000" dirty="0" smtClean="0"/>
              <a:t>Its size (height, width, and depth)</a:t>
            </a:r>
          </a:p>
          <a:p>
            <a:pPr lvl="2"/>
            <a:r>
              <a:rPr lang="en-US" sz="2000" dirty="0" smtClean="0"/>
              <a:t>Many other details</a:t>
            </a:r>
          </a:p>
          <a:p>
            <a:r>
              <a:rPr lang="en-US" dirty="0" smtClean="0"/>
              <a:t>Alice is not a 3D graphics drawing program</a:t>
            </a:r>
          </a:p>
          <a:p>
            <a:pPr lvl="2"/>
            <a:endParaRPr lang="en-US" sz="20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3 Dimensions, 6 Directions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8077200" cy="4525963"/>
          </a:xfrm>
        </p:spPr>
        <p:txBody>
          <a:bodyPr/>
          <a:lstStyle/>
          <a:p>
            <a:r>
              <a:rPr lang="en-US" sz="2800" dirty="0"/>
              <a:t>A 3D object has </a:t>
            </a:r>
          </a:p>
          <a:p>
            <a:pPr lvl="1"/>
            <a:r>
              <a:rPr lang="en-US" sz="2400" dirty="0"/>
              <a:t> 3 dimensions</a:t>
            </a:r>
          </a:p>
          <a:p>
            <a:pPr lvl="2"/>
            <a:r>
              <a:rPr lang="en-US" sz="2000" dirty="0"/>
              <a:t>height, width, depth</a:t>
            </a:r>
          </a:p>
          <a:p>
            <a:pPr lvl="1"/>
            <a:r>
              <a:rPr lang="en-US" sz="2400" dirty="0"/>
              <a:t> 6 degrees of freedom (directions of movement)</a:t>
            </a:r>
          </a:p>
          <a:p>
            <a:pPr lvl="1">
              <a:buFontTx/>
              <a:buNone/>
            </a:pPr>
            <a:endParaRPr lang="en-US" sz="2400" dirty="0"/>
          </a:p>
          <a:p>
            <a:pPr lvl="2"/>
            <a:endParaRPr lang="en-US" sz="2000" dirty="0"/>
          </a:p>
        </p:txBody>
      </p:sp>
      <p:pic>
        <p:nvPicPr>
          <p:cNvPr id="60420" name="Picture 4" descr="1-2-6"/>
          <p:cNvPicPr>
            <a:picLocks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90800" y="3124200"/>
            <a:ext cx="3733800" cy="3429000"/>
          </a:xfrm>
          <a:noFill/>
          <a:ln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C000"/>
                </a:solidFill>
              </a:rPr>
              <a:t>3 Dimensions, 6 </a:t>
            </a:r>
            <a:r>
              <a:rPr lang="en-US" sz="4000" b="1" dirty="0" smtClean="0">
                <a:solidFill>
                  <a:srgbClr val="FFC000"/>
                </a:solidFill>
              </a:rPr>
              <a:t>Directions </a:t>
            </a:r>
            <a:r>
              <a:rPr lang="en-US" sz="2400" b="1" dirty="0" smtClean="0">
                <a:solidFill>
                  <a:srgbClr val="FFC000"/>
                </a:solidFill>
              </a:rPr>
              <a:t>(cont.)</a:t>
            </a:r>
            <a:endParaRPr lang="en-US" sz="4000" b="1" dirty="0">
              <a:solidFill>
                <a:srgbClr val="FFC000"/>
              </a:solidFill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8077200" cy="4525963"/>
          </a:xfrm>
        </p:spPr>
        <p:txBody>
          <a:bodyPr/>
          <a:lstStyle/>
          <a:p>
            <a:r>
              <a:rPr lang="en-US" sz="2800" dirty="0"/>
              <a:t>A 3D object </a:t>
            </a:r>
            <a:r>
              <a:rPr lang="en-US" sz="2800" dirty="0" smtClean="0"/>
              <a:t>“knows” </a:t>
            </a:r>
            <a:endParaRPr lang="en-US" sz="2800" dirty="0"/>
          </a:p>
          <a:p>
            <a:pPr lvl="1"/>
            <a:r>
              <a:rPr lang="en-US" sz="2400" dirty="0"/>
              <a:t> </a:t>
            </a:r>
            <a:r>
              <a:rPr lang="en-US" sz="2400" dirty="0" smtClean="0"/>
              <a:t>which way is up or down, left and right, and forward and backward </a:t>
            </a:r>
            <a:r>
              <a:rPr lang="en-US" sz="2400" dirty="0" smtClean="0">
                <a:solidFill>
                  <a:srgbClr val="00B0F0"/>
                </a:solidFill>
              </a:rPr>
              <a:t>relative to itself</a:t>
            </a:r>
            <a:endParaRPr lang="en-US" sz="2000" dirty="0">
              <a:solidFill>
                <a:srgbClr val="00B0F0"/>
              </a:solidFill>
            </a:endParaRPr>
          </a:p>
          <a:p>
            <a:pPr lvl="1"/>
            <a:r>
              <a:rPr lang="en-US" sz="2400" dirty="0"/>
              <a:t> </a:t>
            </a:r>
            <a:r>
              <a:rPr lang="en-US" sz="2400" dirty="0" smtClean="0"/>
              <a:t>The directions are with respect to </a:t>
            </a:r>
            <a:r>
              <a:rPr lang="en-US" sz="2400" dirty="0" smtClean="0">
                <a:solidFill>
                  <a:srgbClr val="00B0F0"/>
                </a:solidFill>
              </a:rPr>
              <a:t>the object</a:t>
            </a:r>
            <a:r>
              <a:rPr lang="en-US" sz="2400" dirty="0" smtClean="0"/>
              <a:t>, not the camera’s point of view</a:t>
            </a:r>
          </a:p>
          <a:p>
            <a:pPr lvl="1"/>
            <a:r>
              <a:rPr lang="en-US" sz="2400" dirty="0" smtClean="0"/>
              <a:t>An </a:t>
            </a:r>
            <a:r>
              <a:rPr lang="en-US" sz="2400" dirty="0" smtClean="0">
                <a:solidFill>
                  <a:srgbClr val="00B0F0"/>
                </a:solidFill>
              </a:rPr>
              <a:t>object’s orientation </a:t>
            </a:r>
            <a:r>
              <a:rPr lang="en-US" sz="2400" dirty="0" smtClean="0"/>
              <a:t>is the direction and angle at which an object is facing forward</a:t>
            </a:r>
          </a:p>
          <a:p>
            <a:pPr lvl="1"/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00B0F0"/>
                </a:solidFill>
              </a:rPr>
              <a:t>bounding box </a:t>
            </a:r>
            <a:r>
              <a:rPr lang="en-US" sz="2400" dirty="0" smtClean="0"/>
              <a:t>(yellow box) highlights the     selected object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Center of an object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object has a unique </a:t>
            </a:r>
            <a:r>
              <a:rPr lang="en-US" dirty="0" smtClean="0">
                <a:solidFill>
                  <a:srgbClr val="00B0F0"/>
                </a:solidFill>
              </a:rPr>
              <a:t>center</a:t>
            </a:r>
          </a:p>
          <a:p>
            <a:r>
              <a:rPr lang="en-US" dirty="0" smtClean="0"/>
              <a:t>The center is set when the 3D model is first created</a:t>
            </a:r>
          </a:p>
          <a:p>
            <a:r>
              <a:rPr lang="en-US" dirty="0" smtClean="0"/>
              <a:t>Usually, it is at the center of its bounding box or as near to the </a:t>
            </a:r>
            <a:r>
              <a:rPr lang="en-US" dirty="0" smtClean="0">
                <a:solidFill>
                  <a:srgbClr val="00B0F0"/>
                </a:solidFill>
              </a:rPr>
              <a:t>center of mass </a:t>
            </a:r>
            <a:r>
              <a:rPr lang="en-US" dirty="0" smtClean="0"/>
              <a:t>as the graphic artist could determine</a:t>
            </a:r>
          </a:p>
          <a:p>
            <a:r>
              <a:rPr lang="en-US" dirty="0" smtClean="0"/>
              <a:t>The center point provides a reference      for a </a:t>
            </a:r>
            <a:r>
              <a:rPr lang="en-US" dirty="0" smtClean="0">
                <a:solidFill>
                  <a:srgbClr val="00B0F0"/>
                </a:solidFill>
              </a:rPr>
              <a:t>pivot</a:t>
            </a:r>
            <a:r>
              <a:rPr lang="en-US" dirty="0" smtClean="0"/>
              <a:t> or spin type of movement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019800" cy="114300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Center of an object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95400" y="1447800"/>
            <a:ext cx="5334000" cy="5029200"/>
          </a:xfrm>
        </p:spPr>
        <p:txBody>
          <a:bodyPr/>
          <a:lstStyle/>
          <a:p>
            <a:pPr lvl="1"/>
            <a:r>
              <a:rPr lang="en-US" sz="2400" dirty="0"/>
              <a:t>At the center of mass 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>
              <a:buFontTx/>
              <a:buNone/>
            </a:pPr>
            <a:endParaRPr lang="en-US" sz="2400" dirty="0"/>
          </a:p>
          <a:p>
            <a:pPr lvl="1"/>
            <a:r>
              <a:rPr lang="en-US" sz="2400" dirty="0"/>
              <a:t>Where it stands on the </a:t>
            </a:r>
            <a:r>
              <a:rPr lang="en-US" sz="2400" dirty="0" smtClean="0"/>
              <a:t>ground (objects that sit or stand on the ground, or a table. For people objects, it is between their feet)</a:t>
            </a:r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Where it is held </a:t>
            </a:r>
            <a:r>
              <a:rPr lang="en-US" sz="2400" dirty="0" smtClean="0"/>
              <a:t>when used</a:t>
            </a:r>
            <a:endParaRPr lang="en-US" sz="2400" dirty="0"/>
          </a:p>
        </p:txBody>
      </p:sp>
      <p:pic>
        <p:nvPicPr>
          <p:cNvPr id="61444" name="Picture 4" descr="1-2-7"/>
          <p:cNvPicPr>
            <a:picLocks noChangeAspect="1" noChangeArrowheads="1"/>
          </p:cNvPicPr>
          <p:nvPr>
            <p:ph sz="quarter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6477000" y="304800"/>
            <a:ext cx="2438400" cy="2286000"/>
          </a:xfrm>
          <a:noFill/>
          <a:ln/>
        </p:spPr>
      </p:pic>
      <p:pic>
        <p:nvPicPr>
          <p:cNvPr id="61445" name="Picture 5" descr="1-2-8"/>
          <p:cNvPicPr>
            <a:picLocks noChangeAspect="1" noChangeArrowheads="1"/>
          </p:cNvPicPr>
          <p:nvPr>
            <p:ph sz="quarter" idx="3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6477000" y="2514600"/>
            <a:ext cx="2438400" cy="2286000"/>
          </a:xfrm>
          <a:noFill/>
          <a:ln/>
        </p:spPr>
      </p:pic>
      <p:pic>
        <p:nvPicPr>
          <p:cNvPr id="61446" name="Picture 6" descr="1-2-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77000" y="4800600"/>
            <a:ext cx="2438400" cy="205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Distance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object’s </a:t>
            </a:r>
            <a:r>
              <a:rPr lang="en-US" dirty="0" smtClean="0">
                <a:solidFill>
                  <a:srgbClr val="00B0F0"/>
                </a:solidFill>
              </a:rPr>
              <a:t>distance</a:t>
            </a:r>
            <a:r>
              <a:rPr lang="en-US" dirty="0" smtClean="0"/>
              <a:t> to another is measured from its center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Position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center of an object is the point used as its </a:t>
            </a:r>
            <a:r>
              <a:rPr lang="en-US" dirty="0" smtClean="0">
                <a:solidFill>
                  <a:srgbClr val="00B0F0"/>
                </a:solidFill>
              </a:rPr>
              <a:t>position</a:t>
            </a:r>
            <a:r>
              <a:rPr lang="en-US" dirty="0" smtClean="0"/>
              <a:t> in a world</a:t>
            </a:r>
          </a:p>
          <a:p>
            <a:r>
              <a:rPr lang="en-US" dirty="0" smtClean="0"/>
              <a:t>Alice automatically puts the center of the ground at the center of the world</a:t>
            </a:r>
          </a:p>
          <a:p>
            <a:r>
              <a:rPr lang="en-US" dirty="0" smtClean="0"/>
              <a:t>Any object in the world is located     relative to the center of the world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Animation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Animation is a fantasy of vision, an illusion</a:t>
            </a:r>
          </a:p>
          <a:p>
            <a:r>
              <a:rPr lang="en-US" dirty="0" smtClean="0"/>
              <a:t>To generate this illusion, the filmmaker and artist collaborate to create a sequence of artwork frames (drawings or images) where each has a slightly different view   of a scene</a:t>
            </a:r>
          </a:p>
          <a:p>
            <a:r>
              <a:rPr lang="en-US" dirty="0" smtClean="0"/>
              <a:t>The scene is drawn with objects, and   then redrawn with objects positioned        in a slightly different place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Getting started with Alice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encourage you to experiment with the Alice system in much the same way as you would explore a new cell phone</a:t>
            </a:r>
          </a:p>
          <a:p>
            <a:r>
              <a:rPr lang="en-US" dirty="0" smtClean="0"/>
              <a:t>You take it out of the box and try out all its cool features – sort of a ‘poke and prod’ kind of procedure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3D text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Click on the </a:t>
            </a:r>
            <a:r>
              <a:rPr lang="en-US" dirty="0" smtClean="0">
                <a:solidFill>
                  <a:srgbClr val="00B0F0"/>
                </a:solidFill>
              </a:rPr>
              <a:t>Create 3D Text </a:t>
            </a:r>
            <a:r>
              <a:rPr lang="en-US" dirty="0" smtClean="0"/>
              <a:t>thumbnail in the Local Gallery</a:t>
            </a:r>
          </a:p>
          <a:p>
            <a:r>
              <a:rPr lang="en-US" dirty="0" smtClean="0"/>
              <a:t>A text dialog box pops up for entering text</a:t>
            </a:r>
          </a:p>
          <a:p>
            <a:r>
              <a:rPr lang="en-US" dirty="0" smtClean="0"/>
              <a:t>The dialog box allows</a:t>
            </a:r>
          </a:p>
          <a:p>
            <a:pPr lvl="1"/>
            <a:r>
              <a:rPr lang="en-US" dirty="0" smtClean="0"/>
              <a:t>Font, Bold, Italic</a:t>
            </a:r>
          </a:p>
          <a:p>
            <a:r>
              <a:rPr lang="en-US" dirty="0" smtClean="0"/>
              <a:t>To modify the text in the object string,  click on the text in the properties list         of the detail panel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Graphic images (Billboards)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F0"/>
                </a:solidFill>
              </a:rPr>
              <a:t>Billboard:</a:t>
            </a:r>
            <a:r>
              <a:rPr lang="en-US" dirty="0" smtClean="0"/>
              <a:t> is a flat 2D image that can be created in any paint tool and saved in GIF, JPG, or </a:t>
            </a:r>
            <a:r>
              <a:rPr lang="en-US" dirty="0" err="1" smtClean="0"/>
              <a:t>TIF</a:t>
            </a:r>
            <a:r>
              <a:rPr lang="en-US" dirty="0" smtClean="0"/>
              <a:t> formats</a:t>
            </a:r>
          </a:p>
          <a:p>
            <a:r>
              <a:rPr lang="en-US" dirty="0" smtClean="0"/>
              <a:t>Click on File/Make Billboard</a:t>
            </a:r>
          </a:p>
          <a:p>
            <a:pPr lvl="1"/>
            <a:r>
              <a:rPr lang="en-US" dirty="0" smtClean="0"/>
              <a:t>Navigate to the stored image</a:t>
            </a:r>
          </a:p>
          <a:p>
            <a:pPr lvl="1"/>
            <a:r>
              <a:rPr lang="en-US" dirty="0" smtClean="0"/>
              <a:t>Click the Import button</a:t>
            </a:r>
          </a:p>
          <a:p>
            <a:r>
              <a:rPr lang="en-US" dirty="0" smtClean="0"/>
              <a:t>Common uses:</a:t>
            </a:r>
          </a:p>
          <a:p>
            <a:pPr lvl="1"/>
            <a:r>
              <a:rPr lang="en-US" dirty="0" smtClean="0"/>
              <a:t>Provide information to the user about        how to play a game or simulation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AliceTemplate">
  <a:themeElements>
    <a:clrScheme name="2_Alice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Alice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Alice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lice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lice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lice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lice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lice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772</TotalTime>
  <Words>1240</Words>
  <Application>Microsoft Office PowerPoint</Application>
  <PresentationFormat>On-screen Show (4:3)</PresentationFormat>
  <Paragraphs>163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Times New Roman</vt:lpstr>
      <vt:lpstr>Arial</vt:lpstr>
      <vt:lpstr>Wingdings</vt:lpstr>
      <vt:lpstr>2_AliceTemplate</vt:lpstr>
      <vt:lpstr>Chapter 1</vt:lpstr>
      <vt:lpstr>Outline</vt:lpstr>
      <vt:lpstr>Outline (cont.)</vt:lpstr>
      <vt:lpstr>Outline (cont.)</vt:lpstr>
      <vt:lpstr>Why learn about programming computers?</vt:lpstr>
      <vt:lpstr>How you will learn to program with this book and Alice</vt:lpstr>
      <vt:lpstr>The basics of computer programming</vt:lpstr>
      <vt:lpstr>The basics of computer programming (cont.)</vt:lpstr>
      <vt:lpstr>The basics of computer programming (cont.)</vt:lpstr>
      <vt:lpstr>The basics of computer programming (cont.)</vt:lpstr>
      <vt:lpstr>The basics of computer programming (cont.)</vt:lpstr>
      <vt:lpstr>Why is it called Alice?</vt:lpstr>
      <vt:lpstr>Alice Concepts</vt:lpstr>
      <vt:lpstr>Class</vt:lpstr>
      <vt:lpstr>Virtual World</vt:lpstr>
      <vt:lpstr>Objects and 3D models</vt:lpstr>
      <vt:lpstr>Objects and 3D models (cont.)</vt:lpstr>
      <vt:lpstr>3 Dimensions, 6 Directions</vt:lpstr>
      <vt:lpstr>3 Dimensions, 6 Directions (cont.)</vt:lpstr>
      <vt:lpstr>Center of an object</vt:lpstr>
      <vt:lpstr>Center of an object</vt:lpstr>
      <vt:lpstr>Distance</vt:lpstr>
      <vt:lpstr>Position</vt:lpstr>
      <vt:lpstr>Animation</vt:lpstr>
      <vt:lpstr>Getting started with Alice</vt:lpstr>
      <vt:lpstr>3D text</vt:lpstr>
      <vt:lpstr>Graphic images (Billboards)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Alice</dc:title>
  <dc:creator>Wanda P. Dann</dc:creator>
  <cp:lastModifiedBy>Fernando</cp:lastModifiedBy>
  <cp:revision>57</cp:revision>
  <dcterms:created xsi:type="dcterms:W3CDTF">2000-10-25T03:56:04Z</dcterms:created>
  <dcterms:modified xsi:type="dcterms:W3CDTF">2011-09-05T23:36:07Z</dcterms:modified>
</cp:coreProperties>
</file>